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 (US$M)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3.46</c:v>
                </c:pt>
                <c:pt idx="1">
                  <c:v>30.52</c:v>
                </c:pt>
                <c:pt idx="2">
                  <c:v>79.04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MAU(百万)</c:v>
                </c:pt>
              </c:strCache>
            </c:strRef>
          </c:tx>
          <c:spPr>
            <a:solidFill>
              <a:srgbClr val="5D6D9E"/>
            </a:solidFill>
          </c:spPr>
          <c:dPt>
            <c:idx val="3"/>
            <c:spPr>
              <a:solidFill>
                <a:srgbClr val="2E86C1"/>
              </a:solidFill>
            </c:spPr>
          </c:dPt>
          <c:cat>
            <c:strRef>
              <c:f>Sheet1!$A$2:$A$7</c:f>
              <c:strCache>
                <c:ptCount val="6"/>
                <c:pt idx="0">
                  <c:v>豆包(字节)</c:v>
                </c:pt>
                <c:pt idx="1">
                  <c:v>DeepSeek</c:v>
                </c:pt>
                <c:pt idx="2">
                  <c:v>腾讯元宝</c:v>
                </c:pt>
                <c:pt idx="3">
                  <c:v>MiniMax</c:v>
                </c:pt>
                <c:pt idx="4">
                  <c:v>即梦AI</c:v>
                </c:pt>
                <c:pt idx="5">
                  <c:v>Kimi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172</c:v>
                </c:pt>
                <c:pt idx="1">
                  <c:v>145</c:v>
                </c:pt>
                <c:pt idx="2">
                  <c:v>32.9</c:v>
                </c:pt>
                <c:pt idx="3">
                  <c:v>27.6</c:v>
                </c:pt>
                <c:pt idx="4">
                  <c:v>10.1</c:v>
                </c:pt>
                <c:pt idx="5">
                  <c:v>9.7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MiniMax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国内流量</c:v>
                </c:pt>
                <c:pt idx="1">
                  <c:v>海外/出海</c:v>
                </c:pt>
                <c:pt idx="2">
                  <c:v>多模态能力</c:v>
                </c:pt>
                <c:pt idx="3">
                  <c:v>商业化变现</c:v>
                </c:pt>
                <c:pt idx="4">
                  <c:v>盈利能力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豆包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国内流量</c:v>
                </c:pt>
                <c:pt idx="1">
                  <c:v>海外/出海</c:v>
                </c:pt>
                <c:pt idx="2">
                  <c:v>多模态能力</c:v>
                </c:pt>
                <c:pt idx="3">
                  <c:v>商业化变现</c:v>
                </c:pt>
                <c:pt idx="4">
                  <c:v>盈利能力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DeepSeek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国内流量</c:v>
                </c:pt>
                <c:pt idx="1">
                  <c:v>海外/出海</c:v>
                </c:pt>
                <c:pt idx="2">
                  <c:v>多模态能力</c:v>
                </c:pt>
                <c:pt idx="3">
                  <c:v>商业化变现</c:v>
                </c:pt>
                <c:pt idx="4">
                  <c:v>盈利能力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智谱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国内流量</c:v>
                </c:pt>
                <c:pt idx="1">
                  <c:v>海外/出海</c:v>
                </c:pt>
                <c:pt idx="2">
                  <c:v>多模态能力</c:v>
                </c:pt>
                <c:pt idx="3">
                  <c:v>商业化变现</c:v>
                </c:pt>
                <c:pt idx="4">
                  <c:v>盈利能力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icrosoft YaHei"/>
              </a:rPr>
              <a:t>MiniMax 稀宇科技 (00100.HK)</a:t>
            </a:r>
          </a:p>
          <a:p>
            <a:pPr algn="l"/>
            <a:r>
              <a:rPr sz="2400" b="1">
                <a:solidFill>
                  <a:srgbClr val="2E86C1"/>
                </a:solidFill>
                <a:latin typeface="Microsoft YaHei"/>
              </a:rPr>
              <a:t>财报前瞻假设 · DCF 估值 · 大模型竞争格局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9EBEF"/>
                </a:solidFill>
                <a:latin typeface="Microsoft YaHei"/>
              </a:rPr>
              <a:t>2026-01-09 港交所上市 · 全球最快上市 AI 公司 · 阿里/腾讯/米哈游加持</a:t>
            </a:r>
          </a:p>
          <a:p>
            <a:pPr algn="l"/>
            <a:r>
              <a:rPr sz="1100" b="0">
                <a:solidFill>
                  <a:srgbClr val="6B707B"/>
                </a:solidFill>
                <a:latin typeface="Microsoft YaHei"/>
              </a:rPr>
              <a:t>演示版 · 来源：港交所招股书、QuestMobile、券商研报、公开报道 · 2026-06 · 不构成投资建议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投资概要：高增长 To C 出海故事，估值押注的是未来而非当下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</a:tblGrid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关键数字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数值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上市市值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≈ 461 亿港元 (US$5.9B)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2025 营收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US$79.0M (+159% YoY)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三年营收 CAGR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≈ 378% (2023-25)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海外收入占比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≈ 73%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盈利状态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持续大额亏损，未盈利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EV/Sales (TTM)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≈ 75x（极高）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0" y="16002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13E"/>
                </a:solidFill>
                <a:latin typeface="Microsoft YaHei"/>
              </a:rPr>
              <a:t>一句话判断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数据扎实的部分：营收高增、To C + 出海差异化、多模态（视频/语音/陪伴）产品矩阵领先。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最大争议：$79M 收入撑 ~US$6B 市值 = 75x P/S，价值几乎全压在 2030+ 的规模与盈利兑现上。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传统 DCF 在此失效（见 DCF 章节）——这是一笔“长期期权”，不是现金流折现能算清的标的。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来源：MiniMax 招股书 (2025-12)；量子位《作价461亿港元募资46亿》；新浪财经《上市后首份成绩单》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公司画像：385 人的“最快 IPO”，研发投入仅 OpenAI 的约 1%</a:t>
            </a:r>
          </a:p>
          <a:p>
            <a:pPr algn="l"/>
            <a:r>
              <a:rPr sz="1400" b="0">
                <a:solidFill>
                  <a:srgbClr val="6B707B"/>
                </a:solidFill>
                <a:latin typeface="Microsoft YaHei"/>
              </a:rPr>
              <a:t>2022 年由前商汤副总裁闫俊杰创立，多模态全栈自研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91640"/>
          <a:ext cx="6583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84632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代码 / 上市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00100.HK / 2026-01-09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核心产品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海螺AI(视频/语音)、Talkie·星野(AI陪伴)、MiniMax Agent、开放平台 API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旗舰模型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MiniMax M1/M2.5、Hailuo-02、Speech-02、Music-01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用户规模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2.36 亿个人用户 / 21.4 万企业客户 / 200+ 国家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国内月活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≈ 2,760 万 (9M2025 均值)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团队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385 人，平均 29 岁，研发占 ≈74%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主要股东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阿里 13.66% / 米哈游 6.4% / 腾讯 2.58% / 红杉·IDG·高瓴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2376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13E"/>
                </a:solidFill>
                <a:latin typeface="Microsoft YaHei"/>
              </a:rPr>
              <a:t>定位关键词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To C 为主：约七成收入来自消费级 AI 产品（区别于智谱的 To B）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出海优先：海螺/Talkie 主攻海外，美国+新加坡为最大单一市场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多模态领先：文本/语音/图像/视频/音乐全覆盖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性价比打法：M2.5 以低 API 价格+快响应抢开发者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来源：InfoQ《385人、平均95后…研发成本仅为OpenAI的1%》；招股书；澎湃新闻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财务表现：收入三年翻数十倍，但仍深度亏损</a:t>
            </a:r>
          </a:p>
          <a:p>
            <a:pPr algn="l"/>
            <a:r>
              <a:rPr sz="1400" b="0">
                <a:solidFill>
                  <a:srgbClr val="6B707B"/>
                </a:solidFill>
                <a:latin typeface="Microsoft YaHei"/>
              </a:rPr>
              <a:t>营收单位：US$ 百万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45920"/>
          <a:ext cx="58521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6916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13E"/>
                </a:solidFill>
                <a:latin typeface="Microsoft YaHei"/>
              </a:rPr>
              <a:t>增长与亏损并存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营收 2023 $3.5M → 2024 $30.5M (+782%) → 2025 $79.0M (+159%)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2025 结构：AI 原生产品 $53.1M (67%)，开放平台/企业 $26.0M (33%)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招股书披露年度净亏损达数十亿元级 [含优先股公允价值变动等非现金项]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现金消耗主因：模型训练算力 + 海外获客投放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毛利与单位经济仍未跑通，盈利时点是核心未知数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来源：MiniMax 招股书；证券时报《收入增长近8倍、年亏损32亿》；21经济网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【财报前瞻】下一财报核心假设：增速换挡 + 亏损率收窄是关键看点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74320"/>
            <a:ext cx="18288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① 财报前瞻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926080"/>
                <a:gridCol w="2926080"/>
                <a:gridCol w="29260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假设项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熊 (悲观)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中性 (基准)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牛 (乐观)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2026E 营收增速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+70%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+120%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+170%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2026E 营收 (US$M)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134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174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213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海外收入占比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持平 ~73%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升至 ~76%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升至 ~80%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毛利率趋势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承压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小幅改善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明显改善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经营亏损率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基本持平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收窄 20-30pct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大幅收窄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13E"/>
                </a:solidFill>
                <a:latin typeface="Microsoft YaHei"/>
              </a:rPr>
              <a:t>前瞻逻辑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增长来源：海螺AI 视频付费转化、Talkie 海外月活变现、MiniMax Agent 企业渗透、开放平台 token 调用量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最该盯的不是收入（高增已被 price-in），而是亏损率与毛利率拐点——决定市场愿不愿意继续给高 P/S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假设为演示性 [E]，非公司指引。基准以 9M2025 增速 +170% 自然换挡外推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【财报前瞻】盯盘信号清单：用季度数据验证多空逻辑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74320"/>
            <a:ext cx="18288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① 财报前瞻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389120"/>
                <a:gridCol w="4389120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看多信号 (逻辑兑现)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看空信号 (逻辑证伪)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营收增速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维持 ≥100% YoY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跌破 70%，增长失速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经营亏损率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逐季收窄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持平或扩大（烧钱换增长）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海外收入占比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稳定上升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回落（出海受阻/合规风险）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付费用户 &amp; ARPU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Talkie/海螺付费数与单价齐升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付费转化停滞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随规模与自研算力改善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被算力成本侵蚀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企业/开放平台收入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占比提升，第二曲线成形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停留在 C 端单一依赖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37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演示性框架；实际以公司正式财报披露口径为准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【DCF】核心假设：7 年显性期 + 终值，WACC 15%（早期中概 AI）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74320"/>
            <a:ext cx="1828800" cy="4114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② DCF 估值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37976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252728"/>
                <a:gridCol w="1252728"/>
                <a:gridCol w="1252728"/>
                <a:gridCol w="1252728"/>
                <a:gridCol w="1252728"/>
                <a:gridCol w="1252728"/>
                <a:gridCol w="1252728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US$M / 假设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26E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27E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28E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29E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30E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31E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32E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营收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174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322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515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747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1008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1311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1639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营收增速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+120%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+85%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+60%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+45%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+35%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+30%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+25%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经营利润率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-150%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-70%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-25%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+8%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+15%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+20%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自由现金流 (FCF)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-261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-225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-129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+69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+167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+279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13E"/>
                </a:solidFill>
                <a:latin typeface="Microsoft YaHei"/>
              </a:rPr>
              <a:t>假设说明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利润率路径：从 2025 深度为负，随规模/自研算力摊薄，2029 盈亏平衡、2032 达 20% 经营利润率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终值：2032 FCF 永续增长 g=4%，WACC=15%，税率 15%（盈利后）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全部为演示性假设 [E]，非公司指引；早期 AI 公司预测误差极大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【DCF】结论：基准 DCF 仅得 ≈US$0.7B 企业价值，远低于 ~US$5.9B 市值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74320"/>
            <a:ext cx="1828800" cy="4114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② DCF 估值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</a:tblGrid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估值结果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US$M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显性期 FCF 现值合计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-271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终值现值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+992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企业价值 (EV)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≈ 721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+ 净现金 (IPO募资等)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≈ 700 [E]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股权价值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≈ 1,421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40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213E"/>
                </a:solidFill>
                <a:latin typeface="Microsoft YaHei"/>
              </a:rPr>
              <a:t>敏感性：EV (US$M) — WACC × 终值增长 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297680"/>
          <a:ext cx="5111496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216152"/>
                <a:gridCol w="1216152"/>
                <a:gridCol w="1216152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WACC＼g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3%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4%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5%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13%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980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1180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1460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600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721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880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17%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340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430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540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52160" y="16916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13E"/>
                </a:solidFill>
                <a:latin typeface="Microsoft YaHei"/>
              </a:rPr>
              <a:t>怎么读这个结果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即便用相当乐观的 7 年高增长 + 2032 转 20% 利润率，基准 DCF 股权价值也只有 ≈US$1.4B，仅市值的约 1/4。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原因：近端 FCF 深度为负，价值几乎全靠终值；而终值又被高 WACC 折得很薄。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结论：传统 DCF 无法解释市场定价 → MiniMax 不是“现金流标的”，而是“长期期权”。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这不代表市场错——而是说估值锚点应换成下一页的“反推法”与倍数法。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演示性测算 [E]；净现金为粗略估计，应以最新资产负债表为准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【DCF】市场到底 price-in 了什么？反推法 + 倍数交叉验证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74320"/>
            <a:ext cx="1828800" cy="4114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② DCF 估值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13E"/>
                </a:solidFill>
                <a:latin typeface="Microsoft YaHei"/>
              </a:rPr>
              <a:t>反推 DCF：要撑起 ~US$5.9B，需要相信——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营收到 2032 年达 ~US$3.5-4B（即 7 年 ~45%+ 复合增速不掉档）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且 2032 经营利润率升至 ~25-30%（远超当前为负）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即“再造一个区域级 AI 平台”的成功路径，容错率极低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13E"/>
                </a:solidFill>
                <a:latin typeface="Microsoft YaHei"/>
              </a:rPr>
              <a:t>换言之：当前价格 = 对“中国版多模态 AI 赢家”的看涨期权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7830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倍数交叉验证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数值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EV/Sales (2025A)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≈ 75x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EV/Sales (2026E 基准)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≈ 34x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对比：成熟 SaaS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5-15x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对比：高增 AI 私募轮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20-40x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隐含定价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顶格高增长预期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48463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75x TTM P/S 已计入“完美执行”，留给意外的安全边际很小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反推与倍数均为演示性 [E]；旨在说明“定价逻辑”，非精确目标价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【竞争格局】大厂流量碾压，“六小龙”靠差异化求生</a:t>
            </a:r>
          </a:p>
          <a:p>
            <a:pPr algn="l"/>
            <a:r>
              <a:rPr sz="1400" b="0">
                <a:solidFill>
                  <a:srgbClr val="6B707B"/>
                </a:solidFill>
                <a:latin typeface="Microsoft YaHei"/>
              </a:rPr>
              <a:t>国内月活 MAU（百万），2025 口径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74320"/>
            <a:ext cx="1828800" cy="411480"/>
          </a:xfrm>
          <a:prstGeom prst="rect">
            <a:avLst/>
          </a:prstGeom>
          <a:solidFill>
            <a:srgbClr val="5D6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③ 竞争格局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60350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13E"/>
                </a:solidFill>
                <a:latin typeface="Microsoft YaHei"/>
              </a:rPr>
              <a:t>格局速读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第一梯队是大厂：豆包(字节)、DeepSeek 流量断层领先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“AI 六小龙”光环褪去：智谱、MiniMax 抢先 IPO；Kimi、阶跃冲营收；百川、零一转垂类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MiniMax 国内 MAU 不占优 → 它的牌不在国内流量，而在海外 To C + 多模态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来源：QuestMobile；新浪财经《年终盘点|大模型洗牌》；财联社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【竞争格局】MiniMax 的差异化打法：避开国内流量战，打海外多模态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74320"/>
            <a:ext cx="1828800" cy="411480"/>
          </a:xfrm>
          <a:prstGeom prst="rect">
            <a:avLst/>
          </a:prstGeom>
          <a:solidFill>
            <a:srgbClr val="5D6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③ 竞争格局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差异化优势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6213E"/>
                </a:solidFill>
                <a:latin typeface="Microsoft YaHei"/>
              </a:rPr>
              <a:t>• 海外 To C 变现领先（Talkie/海螺）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213E"/>
                </a:solidFill>
                <a:latin typeface="Microsoft YaHei"/>
              </a:rPr>
              <a:t>• 多模态全栈（视频/语音/音乐）自研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213E"/>
                </a:solidFill>
                <a:latin typeface="Microsoft YaHei"/>
              </a:rPr>
              <a:t>• M2.5 性价比抢开发者生态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91640"/>
            <a:ext cx="54864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劣势 / 短板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1945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6213E"/>
                </a:solidFill>
                <a:latin typeface="Microsoft YaHei"/>
              </a:rPr>
              <a:t>• 国内流量远不及大厂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213E"/>
                </a:solidFill>
                <a:latin typeface="Microsoft YaHei"/>
              </a:rPr>
              <a:t>• C 端依赖度高，第二曲线待证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213E"/>
                </a:solidFill>
                <a:latin typeface="Microsoft YaHei"/>
              </a:rPr>
              <a:t>• 品牌认知弱于 DeepSeek/豆包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86200"/>
            <a:ext cx="548640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机会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8912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6213E"/>
                </a:solidFill>
                <a:latin typeface="Microsoft YaHei"/>
              </a:rPr>
              <a:t>• 全球 AI 陪伴/视频创作渗透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213E"/>
                </a:solidFill>
                <a:latin typeface="Microsoft YaHei"/>
              </a:rPr>
              <a:t>• 企业级 Agent + 开放平台放量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213E"/>
                </a:solidFill>
                <a:latin typeface="Microsoft YaHei"/>
              </a:rPr>
              <a:t>• Token 出海风口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886200"/>
            <a:ext cx="5486400" cy="457200"/>
          </a:xfrm>
          <a:prstGeom prst="rect">
            <a:avLst/>
          </a:prstGeom>
          <a:solidFill>
            <a:srgbClr val="5D6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威胁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38912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6213E"/>
                </a:solidFill>
                <a:latin typeface="Microsoft YaHei"/>
              </a:rPr>
              <a:t>• 大厂补贴与免费策略挤压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213E"/>
                </a:solidFill>
                <a:latin typeface="Microsoft YaHei"/>
              </a:rPr>
              <a:t>• 海外合规/地缘风险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213E"/>
                </a:solidFill>
                <a:latin typeface="Microsoft YaHei"/>
              </a:rPr>
              <a:t>• 开源模型(DeepSeek/Qwen)拉低付费意愿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SWOT 为基于公开信息的演示性判断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【竞争格局】主要对手对比：流量、模式、上市状态各异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74320"/>
            <a:ext cx="1828800" cy="411480"/>
          </a:xfrm>
          <a:prstGeom prst="rect">
            <a:avLst/>
          </a:prstGeom>
          <a:solidFill>
            <a:srgbClr val="5D6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③ 竞争格局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743200"/>
                <a:gridCol w="1371600"/>
                <a:gridCol w="1828800"/>
                <a:gridCol w="3566160"/>
              </a:tblGrid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公司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定位/模式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流量(MAU)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商业化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对 MiniMax 的意义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豆包(字节)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闭源MoE，To B为主，火山引擎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1.72 亿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企业客户广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流量与算力碾压，定价压制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DeepSeek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开源高性能，性价比标杆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1.45 亿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API/开源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拉低付费意愿，抢开发者心智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智谱 AI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To B，已港股IPO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中等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政企/企业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“大模型第一股”直接对标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Kimi(月之暗面)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Agent/深度研究，金融学术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967 万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订阅/Agent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同为六小龙，争“下一个DeepSeek”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通义千问(阿里)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开源Qwen + 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大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阿里云绑定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213E"/>
                          </a:solidFill>
                          <a:latin typeface="Microsoft YaHei"/>
                        </a:rPr>
                        <a:t>阿里既是股东又是竞品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37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来源：人人都是产品经理《2026国产大模型选型地图》；财联社；火山引擎社区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【竞争格局】五维定位：MiniMax 强在多模态与出海，弱在流量与盈利</a:t>
            </a:r>
          </a:p>
          <a:p>
            <a:pPr algn="l"/>
            <a:r>
              <a:rPr sz="1400" b="0">
                <a:solidFill>
                  <a:srgbClr val="6B707B"/>
                </a:solidFill>
                <a:latin typeface="Microsoft YaHei"/>
              </a:rPr>
              <a:t>定性打分 1=弱 5=强（作者评估 [E]）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74320"/>
            <a:ext cx="1828800" cy="411480"/>
          </a:xfrm>
          <a:prstGeom prst="rect">
            <a:avLst/>
          </a:prstGeom>
          <a:solidFill>
            <a:srgbClr val="5D6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③ 竞争格局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91640"/>
          <a:ext cx="65836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17830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13E"/>
                </a:solidFill>
                <a:latin typeface="Microsoft YaHei"/>
              </a:rPr>
              <a:t>读图要点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MiniMax(蓝)轮廓“偏出海+多模态”，国内流量与盈利是凹点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豆包轮廓最大且均衡，全维度领先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各家形状差异大 → 不是同质竞争，而是分赛道卡位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打分为作者综合公开数据的定性评估 [E]，仅供相对比较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综合：护城河在“多模态+出海产品力”，软肋在“流量+盈利”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4864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护城河（可持续优势）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产品力：海螺/Talkie 在 AI 视频与情感陪伴的海外心智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多模态全栈自研，模型迭代快（M2.5、Hailuo-02）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出海先发：73% 海外收入，绕开国内流量血战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资本/生态：阿里、腾讯、米哈游战略加持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00200"/>
            <a:ext cx="548640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软肋（结构性风险）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488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持续大额亏损，盈利路径与时点未明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国内流量远逊大厂，C 端获客成本高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估值 75x P/S，容错空间极小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海外合规/地缘 + 开源模型挤压付费意愿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阿里等股东同时是竞品（豆包/Qwen/智谱）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综合招股书、券商研报与公开报道的作者判断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综合结论：一笔“高赔率、高不确定”的 AI 平台期权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914400"/>
                <a:gridCol w="5212080"/>
                <a:gridCol w="411480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情景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概率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核心条件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估值含义</a:t>
                      </a:r>
                    </a:p>
                  </a:txBody>
                  <a:tcPr marL="64008" marR="64008" marT="18288" marB="18288" anchor="ctr">
                    <a:solidFill>
                      <a:srgbClr val="16213E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牛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25%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海外To C持续放量+M系列生态成形，2030前路径清晰转盈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重估为区域多模态赢家，市值上行空间大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中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45%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维持高增但盈利后移，烧钱与融资稀释并存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随增长与情绪宽幅震荡，估值难“算清”</a:t>
                      </a:r>
                    </a:p>
                  </a:txBody>
                  <a:tcPr marL="64008" marR="64008" marT="18288" marB="18288" anchor="ctr">
                    <a:solidFill>
                      <a:srgbClr val="E9EBE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熊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30%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增速换挡+大厂/开源挤压+海外受阻，盈利遥遥无期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Microsoft YaHei"/>
                        </a:rPr>
                        <a:t>P/S 大幅压缩，持续融资稀释股东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13E"/>
                </a:solidFill>
                <a:latin typeface="Microsoft YaHei"/>
              </a:rPr>
              <a:t>给个人投资者的提醒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6B707B"/>
                </a:solidFill>
                <a:latin typeface="Microsoft YaHei"/>
              </a:rPr>
              <a:t>• 这不是靠 DCF/财报算清的标的，仓位与风险敞口比“目标价”更重要；把它当高波动成长期权对待。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6B707B"/>
                </a:solidFill>
                <a:latin typeface="Microsoft YaHei"/>
              </a:rPr>
              <a:t>• 最值得跟踪的三件事：① 亏损率拐点 ② 海外收入占比与付费转化 ③ 第二曲线（企业/开放平台）放量。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演示性情景与概率为作者主观假设 [E]，不构成投资建议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数据来源与免责声明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13E"/>
                </a:solidFill>
                <a:latin typeface="Microsoft YaHei"/>
              </a:rPr>
              <a:t>主要来源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MiniMax (稀宇科技) 港交所招股书 (2025-12) 及上市后业绩公告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量子位、新浪财经、证券时报、21经济网、澎湃新闻、InfoQ、财联社、新华网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QuestMobile（月活数据）；人人都是产品经理《2026国产大模型选型地图》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Caproasia / Douglas Research（IPO 估值与募资）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13E"/>
                </a:solidFill>
                <a:latin typeface="Microsoft YaHei"/>
              </a:rPr>
              <a:t>免责声明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本报告由 AI 基于公开来源整理。财报前瞻假设、DCF 测算（营收/利润率/WACC/终值）、竞争打分与情景概率均为演示性估计 [E]，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可能存在重大误差或时效偏差。DCF 对早期亏损 AI 公司参考性有限，已在正文充分提示。本报告不构成任何投资建议，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投资决策请以公司正式披露文件及专业意见为准。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