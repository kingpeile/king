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市占率</c:v>
                </c:pt>
              </c:strCache>
            </c:strRef>
          </c:tx>
          <c:dPt>
            <c:idx val="0"/>
            <c:spPr>
              <a:solidFill>
                <a:srgbClr val="E26A2C"/>
              </a:solidFill>
            </c:spPr>
          </c:dPt>
          <c:dPt>
            <c:idx val="1"/>
            <c:spPr>
              <a:solidFill>
                <a:srgbClr val="1F2D4D"/>
              </a:solidFill>
            </c:spPr>
          </c:dPt>
          <c:dPt>
            <c:idx val="2"/>
            <c:spPr>
              <a:solidFill>
                <a:srgbClr val="4A6BA8"/>
              </a:solidFill>
            </c:spPr>
          </c:dPt>
          <c:dPt>
            <c:idx val="3"/>
            <c:spPr>
              <a:solidFill>
                <a:srgbClr val="6B707B"/>
              </a:solidFill>
            </c:spPr>
          </c:dPt>
          <c:cat>
            <c:strRef>
              <c:f>Sheet1!$A$2:$A$5</c:f>
              <c:strCache>
                <c:ptCount val="4"/>
                <c:pt idx="0">
                  <c:v>滴滴 70.4%</c:v>
                </c:pt>
                <c:pt idx="1">
                  <c:v>曹操出行 5.4%</c:v>
                </c:pt>
                <c:pt idx="2">
                  <c:v>T3出行 5.3%</c:v>
                </c:pt>
                <c:pt idx="3">
                  <c:v>其他 (含中长尾) 18.9%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</c:v>
                </c:pt>
                <c:pt idx="1">
                  <c:v>5.4</c:v>
                </c:pt>
                <c:pt idx="2">
                  <c:v>5.3</c:v>
                </c:pt>
                <c:pt idx="3">
                  <c:v>18.9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滴滴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规模(GTV)</c:v>
                </c:pt>
                <c:pt idx="1">
                  <c:v>增长</c:v>
                </c:pt>
                <c:pt idx="2">
                  <c:v>盈利能力</c:v>
                </c:pt>
                <c:pt idx="3">
                  <c:v>自营化程度</c:v>
                </c:pt>
                <c:pt idx="4">
                  <c:v>自动驾驶布局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曹操出行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规模(GTV)</c:v>
                </c:pt>
                <c:pt idx="1">
                  <c:v>增长</c:v>
                </c:pt>
                <c:pt idx="2">
                  <c:v>盈利能力</c:v>
                </c:pt>
                <c:pt idx="3">
                  <c:v>自营化程度</c:v>
                </c:pt>
                <c:pt idx="4">
                  <c:v>自动驾驶布局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T3出行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规模(GTV)</c:v>
                </c:pt>
                <c:pt idx="1">
                  <c:v>增长</c:v>
                </c:pt>
                <c:pt idx="2">
                  <c:v>盈利能力</c:v>
                </c:pt>
                <c:pt idx="3">
                  <c:v>自营化程度</c:v>
                </c:pt>
                <c:pt idx="4">
                  <c:v>自动驾驶布局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如祺出行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规模(GTV)</c:v>
                </c:pt>
                <c:pt idx="1">
                  <c:v>增长</c:v>
                </c:pt>
                <c:pt idx="2">
                  <c:v>盈利能力</c:v>
                </c:pt>
                <c:pt idx="3">
                  <c:v>自营化程度</c:v>
                </c:pt>
                <c:pt idx="4">
                  <c:v>自动驾驶布局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曹操出行 (02643.HK)</a:t>
            </a:r>
          </a:p>
          <a:p>
            <a:pPr algn="l"/>
            <a:r>
              <a:rPr sz="2600" b="1">
                <a:solidFill>
                  <a:srgbClr val="E26A2C"/>
                </a:solidFill>
                <a:latin typeface="Microsoft YaHei"/>
              </a:rPr>
              <a:t>中国网约车竞争格局分析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Microsoft YaHei"/>
              </a:rPr>
              <a:t>对标 滴滴 · T3出行 · 如祺出行 · 享道出行 · 高德聚合 · 萝卜快跑</a:t>
            </a:r>
          </a:p>
          <a:p>
            <a:pPr algn="l"/>
            <a:r>
              <a:rPr sz="1200" b="0">
                <a:solidFill>
                  <a:srgbClr val="6B707B"/>
                </a:solidFill>
                <a:latin typeface="Microsoft YaHei"/>
              </a:rPr>
              <a:t>演示版 · 数据来源：港交所招股书/年报、弗若斯特沙利文、券商研报、公开新闻 ·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一超多强：滴滴一家独大，曹操稳居第二梯队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2024 年按 GTV 计，CR5 = 86%，格局高度集中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55448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6459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市场关键数字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共享出行服务市场规模约 3,444 亿元，网约车占约 90%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行业 2024 订单量突破 100 亿单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滴滴 GTV 3,927 亿元 (+16.2%)，市占 70.4%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第二梯队：曹操 (5.4%) 与 T3 (5.3%) 贴身竞争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聚合平台 (高德/百度) 占行业订单 25.9% 并持续上升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中长尾：如祺、享道、首汽、万顺、萝卜快跑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来源：弗若斯特沙利文；中国城市公共交通协会《2024 全国网约车市场年报》；曹操出行招股书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赛道经济学：聚合平台崛起重塑非头部玩家的利润结构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自营重资产 vs 聚合轻流量——曹操的增长越来越依赖买流量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65836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109728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曹操 GTV 中来自聚合平台的占比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2024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聚合平台占比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49.9%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73.2%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85.4%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价值链怎么分钱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自营模式（曹操、T3、如祺）：自建/定制车队 + 自有司机，重资产、重运营，但单均掌控力强、数据自有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聚合模式（高德、百度）：不持有运力，向中小平台导流抽佣，轻资产、高毛利，卡住流量入口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结构性矛盾：非头部自营平台为冲规模，被迫上聚合买单量 → 曹操聚合占比 3 年从 50% 升到 85%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后果：流量成本被高德/百度拿捏，自营运力的成本优势被导流抽佣侵蚀，是当前持续亏损的核心症结之一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曹操的破局尝试：定制车（降 TCO）+ 自动驾驶（去司机成本），但兑现需时间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来源：曹操出行招股书 (2025)；36氪《网约车老二将上市，还被高德和百度拿捏了》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曹操出行公司画像：增长稳、亏损收窄，但仍未盈利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吉利系网约车平台 · 2025 年 6 月港交所上市，市值约 190 亿港元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6766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03120"/>
                <a:gridCol w="2011680"/>
              </a:tblGrid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2024 数值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同比 / 备注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营业收入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¥146.6 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+37.4% YoY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GTV (总交易额)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¥170 亿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+38.8% YoY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订单量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6.0 亿单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+33.6% YoY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8.1%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2022/23: -4.4% / 5.8%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调整后净亏损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¥7.24 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2022 为 ¥16.5 亿，收窄 56%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市场份额 (GTV)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5.4%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行业第二，仅次于滴滴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聚合平台占 GTV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85.4%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高度依赖第三方导流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定制车队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3.4 万辆 / 31 城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占订单 GTV 25.1%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73736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一句话画像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增长确定性强、亏损持续收窄的「出行稀缺标的」，差异化在定制车生态 + 吉利供应链，最大隐患是聚合依赖与盈利时点未明。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差异化抓手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吉利体系定制车（枫叶80V、曹操60）压低整车与运营成本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2026 起押注 Robotaxi（「曹操智行」苏州/杭州示范）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来源：曹操出行招股书及 2024 年报；东吴证券/东方财富证券深度报告 (2025-08/09)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竞争对手分组：四个战略群组，曹操卡位「自营第二梯队」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按市场地位与商业模式划分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2651760" cy="96012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709928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D4D"/>
                </a:solidFill>
                <a:latin typeface="Microsoft YaHei"/>
              </a:rPr>
              <a:t>滴滴出行</a:t>
            </a:r>
          </a:p>
          <a:p>
            <a:pPr algn="l"/>
            <a:r>
              <a:rPr sz="1300" b="0">
                <a:solidFill>
                  <a:srgbClr val="6B707B"/>
                </a:solidFill>
                <a:latin typeface="Microsoft YaHei"/>
              </a:rPr>
              <a:t>GTV 3,927 亿 · 市占 70.4% · 网络效应最强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07208"/>
            <a:ext cx="2651760" cy="96012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第二梯队（自营）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825496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D4D"/>
                </a:solidFill>
                <a:latin typeface="Microsoft YaHei"/>
              </a:rPr>
              <a:t>曹操出行 · T3出行</a:t>
            </a:r>
          </a:p>
          <a:p>
            <a:pPr algn="l"/>
            <a:r>
              <a:rPr sz="1300" b="0">
                <a:solidFill>
                  <a:srgbClr val="6B707B"/>
                </a:solidFill>
                <a:latin typeface="Microsoft YaHei"/>
              </a:rPr>
              <a:t>各约 5% 份额 · 重资产自营 · 贴身竞争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22776"/>
            <a:ext cx="2651760" cy="960120"/>
          </a:xfrm>
          <a:prstGeom prst="rect">
            <a:avLst/>
          </a:prstGeom>
          <a:solidFill>
            <a:srgbClr val="4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中长尾（自营）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941063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D4D"/>
                </a:solidFill>
                <a:latin typeface="Microsoft YaHei"/>
              </a:rPr>
              <a:t>如祺出行 · 享道出行 · 首汽约车 · 万顺叫车</a:t>
            </a:r>
          </a:p>
          <a:p>
            <a:pPr algn="l"/>
            <a:r>
              <a:rPr sz="1300" b="0">
                <a:solidFill>
                  <a:srgbClr val="6B707B"/>
                </a:solidFill>
                <a:latin typeface="Microsoft YaHei"/>
              </a:rPr>
              <a:t>区域/股东资源驱动 · 规模偏小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38344"/>
            <a:ext cx="2651760" cy="960120"/>
          </a:xfrm>
          <a:prstGeom prst="rect">
            <a:avLst/>
          </a:prstGeom>
          <a:solidFill>
            <a:srgbClr val="6B7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新物种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056631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D4D"/>
                </a:solidFill>
                <a:latin typeface="Microsoft YaHei"/>
              </a:rPr>
              <a:t>高德聚合 · 百度 · 萝卜快跑(Robotaxi)</a:t>
            </a:r>
          </a:p>
          <a:p>
            <a:pPr algn="l"/>
            <a:r>
              <a:rPr sz="1300" b="0">
                <a:solidFill>
                  <a:srgbClr val="6B707B"/>
                </a:solidFill>
                <a:latin typeface="Microsoft YaHei"/>
              </a:rPr>
              <a:t>聚合卡流量入口 / 自动驾驶颠覆运力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来源：证券时报《网约车「一超多强」格局稳定》；36氪；公司公告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定位雷达图：曹操强在自营与自动驾驶布局，弱在规模与盈利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五维定性打分 (1=弱, 5=强)，作者基于公开数据评估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读图要点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曹操（橙）轮廓「偏右」：自营化 + 自动驾驶布局领先，但规模、盈利明显短板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滴滴轮廓最大且均衡，规模与盈利碾压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曹操 vs T3 高度重叠 → 第二梯队同质化竞争激烈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6B707B"/>
                </a:solidFill>
                <a:latin typeface="Microsoft YaHei"/>
              </a:rPr>
              <a:t>• 如祺整体内收，规模最小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打分为作者综合公开数据的定性评估 [E]，非精确量化，仅供相对比较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对手深挖（一）：滴滴 = 规模护城河；T3 = 曹操的镜像对手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6A2C"/>
                </a:solidFill>
                <a:latin typeface="Microsoft YaHei"/>
              </a:rPr>
              <a:t>滴滴出行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GTV / 市占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¥3,927 亿 / 70.4%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GTV 增速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+16.2% YoY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地位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全国一超，网络效应最强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566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评估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规模/网络效应/数据壁垒；已实现核心业务盈利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劣势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增速放缓；监管与合规历史包袱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战略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守份额、出海、国际化与自动驾驶投入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D4D"/>
                </a:solidFill>
                <a:latin typeface="Microsoft YaHei"/>
              </a:rPr>
              <a:t>T3出行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0116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市占 (GTV)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5.3%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GTV (估)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约 ¥165 亿 [E]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背景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一汽/东风/长安 + 腾讯/阿里系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3566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评估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央企车厂背书；自营运力与合规优先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劣势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同样依赖聚合；盈利未明，与曹操高度同质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战略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扩城、车路协同与自动驾驶卡位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来源：各公司公告与招股书；T3 GTV 为按 5.3% 份额估算 [E]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对手深挖（二）：如祺规模小但增长稳；曹操凭定制车差异化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BA8"/>
                </a:solidFill>
                <a:latin typeface="Microsoft YaHei"/>
              </a:rPr>
              <a:t>如祺出行 (09680.HK)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GTV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¥29.79 亿 (+8.7%)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订单量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1.13 亿单 (+15.7%)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出行服务收入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¥21.99 亿 (+21.2%)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566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评估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广汽背书 + 文远知行 Robotaxi 协同；增长稳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劣势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规模最小，盈利压力大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战略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Robotaxi 运营 + 出海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26A2C"/>
                </a:solidFill>
                <a:latin typeface="Microsoft YaHei"/>
              </a:rPr>
              <a:t>曹操出行（本体）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0116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GTV / 订单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¥170 亿 / 6.0 亿单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8.1% (持续改善)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调整后净亏损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¥7.24 亿 (收窄 56%)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356616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评估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吉利定制车降本；规模第二；亏损收窄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劣势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聚合依赖 85%；高负债；尚未盈利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战略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定制车 + Robotaxi（2026 起）双押注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来源：如祺出行 2024 年报（证券时报）；曹操出行招股书及年报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横向打分对比：曹操规模领先同梯队，但盈利与流量自主性垫底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●●● 强 / ●●○ 中 / ●○○ 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40280"/>
                <a:gridCol w="2240280"/>
                <a:gridCol w="2240280"/>
                <a:gridCol w="2240280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滴滴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曹操出行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T3出行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如祺出行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规模 (GTV)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●●● 3,927亿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170亿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~165亿[E]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30亿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增长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+16%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●●● +39%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中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+9%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盈利能力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●●● 已盈利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仍亏损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仍亏损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仍亏损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自营化程度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偏聚合/混合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●●● 定制车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自营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自营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流量自主性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●●● 自有入口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聚合85%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●○○ 依赖聚合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股东导流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自动驾驶布局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自研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2026落地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卡位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●●○ 文远协同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评分为相对定性比较 [E]；规模为 2024 GTV，T3 为份额估算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护城河与软肋：差异化在「车」，风险在「流量」与「盈利」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502920"/>
          </a:xfrm>
          <a:prstGeom prst="rect">
            <a:avLst/>
          </a:prstGeom>
          <a:solidFill>
            <a:srgbClr val="1F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护城河（可持续优势）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规模经济：定制车 3.4万辆 + 吉利供应链，整车与维保 TCO 显著低于采购社会运力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无形资产：吉利集团背书、自有运营数据、网约车牌照资质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切换成本（弱）：司机/乘客忠诚度有限，主要靠补贴与定制车绑定司机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前瞻布局：Robotaxi「曹操智行」卡位，长期有去司机成本的期权价值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486400" cy="502920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软肋（结构性脆弱点）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40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聚合依赖：85.4% GTV 来自高德/百度，流量成本被卡，议价权弱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尚未盈利：调整后仍亏 7.24 亿，盈利时点未明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高负债：上市前财务杠杆偏高，现金流承压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同质竞争：与 T3 高度重叠，第二梯队缺乏决定性差距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D4D"/>
                </a:solidFill>
                <a:latin typeface="Microsoft YaHei"/>
              </a:rPr>
              <a:t>• Robotaxi 不确定性：投入大、监管与商业化兑现需时间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来源：综合招股书、券商研报与公开报道的作者判断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投资情景：核心变量是「能否降低聚合依赖 + 兑现盈利」</a:t>
            </a:r>
          </a:p>
          <a:p>
            <a:pPr algn="l"/>
            <a:r>
              <a:rPr sz="1400" b="0">
                <a:solidFill>
                  <a:srgbClr val="6B707B"/>
                </a:solidFill>
                <a:latin typeface="Microsoft YaHei"/>
              </a:rPr>
              <a:t>牛 / 中 / 熊三情景（演示性判断，非投资建议）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5029200"/>
                <a:gridCol w="41148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情景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概率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关键驱动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结果含义</a:t>
                      </a:r>
                    </a:p>
                  </a:txBody>
                  <a:tcPr marL="73152" marR="73152" marT="27432" marB="27432" anchor="ctr">
                    <a:solidFill>
                      <a:srgbClr val="1F2D4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牛市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定制车+自营单量上量、聚合占比回落，2026E 接近盈亏平衡，Robotaxi 兑现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市占向 7%+，估值重估为「盈利成长股」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50%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维持 +30%+ 增长、亏损继续收窄，但聚合依赖与流量成本难根治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稳坐第二，盈利时点后移，估值随增长波动</a:t>
                      </a:r>
                    </a:p>
                  </a:txBody>
                  <a:tcPr marL="73152" marR="73152" marT="27432" marB="27432" anchor="ctr">
                    <a:solidFill>
                      <a:srgbClr val="E8EAE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熊市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25%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补贴战重燃 / 聚合抽佣上升 / Robotaxi 投入拖累，盈利遥遥无期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4D"/>
                          </a:solidFill>
                          <a:latin typeface="Microsoft YaHei"/>
                        </a:rPr>
                        <a:t>份额被 T3、聚合侵蚀，持续融资稀释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D4D"/>
                </a:solidFill>
                <a:latin typeface="Microsoft YaHei"/>
              </a:rPr>
              <a:t>盯盘信号（量化）</a:t>
            </a:r>
          </a:p>
          <a:p>
            <a:pPr algn="l"/>
            <a:r>
              <a:rPr sz="1300" b="0">
                <a:solidFill>
                  <a:srgbClr val="6B707B"/>
                </a:solidFill>
                <a:latin typeface="Microsoft YaHei"/>
              </a:rPr>
              <a:t>✓ 每季「聚合平台 GTV 占比」是否下降（&gt;85% 恶化 / &lt;80% 改善）   ✓ 调整后净亏损率是否持续收窄   ✓ 定制车占订单 GTV 是否上升   ✓ Robotaxi 落地城市数与单量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07B"/>
                </a:solidFill>
                <a:latin typeface="Microsoft YaHei"/>
              </a:rPr>
              <a:t>本页为演示性情景分析，不构成投资建议。概率为作者主观假设 [E]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D4D"/>
                </a:solidFill>
                <a:latin typeface="Microsoft YaHei"/>
              </a:rPr>
              <a:t>数据来源与免责声明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主要来源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曹操出行招股书 (2025) 及 2024 年报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弗若斯特沙利文 (Frost &amp; Sullivan) 行业数据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中国城市公共交通协会《2024 全国网约车市场年报》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东吴证券、东方财富证券曹操出行深度报告 (2025-08/09)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证券时报、36氪、IT之家、澎湃新闻等公开报道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• 如祺出行 (09680.HK) 2024 年报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D4D"/>
                </a:solidFill>
                <a:latin typeface="Microsoft YaHei"/>
              </a:rPr>
              <a:t>免责声明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07B"/>
                </a:solidFill>
                <a:latin typeface="Microsoft YaHei"/>
              </a:rPr>
              <a:t>本演示文稿由 AI 基于公开来源整理，部分指标为估算 [E] 或定性判断，可能存在误差或时效偏差；不构成任何投资建议。投资决策请以公司正式披露文件为准。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